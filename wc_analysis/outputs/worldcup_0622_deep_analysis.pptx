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3333500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  <Relationship Id="rId7" Type="http://schemas.openxmlformats.org/officeDocument/2006/relationships/slideMaster" Target="slideMasters/slideMaster1.xml"/>
  <Relationship Id="rId8" Type="http://schemas.openxmlformats.org/officeDocument/2006/relationships/theme" Target="theme/theme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88952" cy="141732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0F172A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FFFFFF"/>
                </a:solidFill>
              </a:rPr>
              <a:t>2026-06-22 世界杯四场深度分析</a:t>
            </a:r>
            <a:endParaRPr lang="zh-CN" sz="3000" dirty="0"/>
          </a:p>
        </p:txBody>
      </p:sp>
      <p:sp>
        <p:nvSpPr>
          <p:cNvPr id="4" name="TextBox 4"/>
          <p:cNvSpPr txBox="1"/>
          <p:nvPr/>
        </p:nvSpPr>
        <p:spPr>
          <a:xfrm>
            <a:off x="594360" y="1645920"/>
            <a:ext cx="521208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200" dirty="0">
                <a:solidFill>
                  <a:srgbClr val="0F172A"/>
                </a:solidFill>
              </a:rPr>
              <a:t>结论总览</a:t>
            </a:r>
            <a:endParaRPr lang="zh-CN" sz="2200" dirty="0"/>
          </a:p>
          <a:p>
            <a:r>
              <a:rPr lang="zh-CN" sz="2200" dirty="0">
                <a:solidFill>
                  <a:srgbClr val="0F172A"/>
                </a:solidFill>
              </a:rPr>
              <a:t>西班牙胜面高，但 -2 深盘不追；</a:t>
            </a:r>
            <a:endParaRPr lang="zh-CN" sz="2200" dirty="0"/>
          </a:p>
          <a:p>
            <a:r>
              <a:rPr lang="zh-CN" sz="2200" dirty="0">
                <a:solidFill>
                  <a:srgbClr val="0F172A"/>
                </a:solidFill>
              </a:rPr>
              <a:t>比利时直胜低赔与 -1 均偏贵；</a:t>
            </a:r>
            <a:endParaRPr lang="zh-CN" sz="2200" dirty="0"/>
          </a:p>
          <a:p>
            <a:r>
              <a:rPr lang="zh-CN" sz="2200" dirty="0">
                <a:solidFill>
                  <a:srgbClr val="0F172A"/>
                </a:solidFill>
              </a:rPr>
              <a:t>乌拉圭胜最稳，让 -1 接近公平；</a:t>
            </a:r>
            <a:endParaRPr lang="zh-CN" sz="2200" dirty="0"/>
          </a:p>
          <a:p>
            <a:r>
              <a:rPr lang="zh-CN" sz="2200" dirty="0">
                <a:solidFill>
                  <a:srgbClr val="0F172A"/>
                </a:solidFill>
              </a:rPr>
              <a:t>埃及胜面在，但新西兰 +1 有保护价值。</a:t>
            </a:r>
            <a:endParaRPr lang="zh-CN" sz="2200" dirty="0"/>
          </a:p>
        </p:txBody>
      </p:sp>
      <p:sp>
        <p:nvSpPr>
          <p:cNvPr id="5" name="TextBox 5"/>
          <p:cNvSpPr txBox="1"/>
          <p:nvPr/>
        </p:nvSpPr>
        <p:spPr>
          <a:xfrm>
            <a:off x="6035040" y="1645920"/>
            <a:ext cx="5394960" cy="2468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dirty="0">
                <a:solidFill>
                  <a:srgbClr val="334155"/>
                </a:solidFill>
              </a:rPr>
              <a:t>方法</a:t>
            </a:r>
            <a:endParaRPr lang="zh-CN" sz="1800" dirty="0"/>
          </a:p>
          <a:p>
            <a:r>
              <a:rPr lang="zh-CN" sz="1800" dirty="0">
                <a:solidFill>
                  <a:srgbClr val="334155"/>
                </a:solidFill>
              </a:rPr>
              <a:t>先验：Elo + FBref近期表现 + npxG代理 + Dixon-Coles</a:t>
            </a:r>
            <a:endParaRPr lang="zh-CN" sz="1800" dirty="0"/>
          </a:p>
          <a:p>
            <a:r>
              <a:rPr lang="zh-CN" sz="1800" dirty="0">
                <a:solidFill>
                  <a:srgbClr val="334155"/>
                </a:solidFill>
              </a:rPr>
              <a:t>校准：伤病、休息、天气、体彩总进球</a:t>
            </a:r>
            <a:endParaRPr lang="zh-CN" sz="1800" dirty="0"/>
          </a:p>
          <a:p>
            <a:r>
              <a:rPr lang="zh-CN" sz="1800" dirty="0">
                <a:solidFill>
                  <a:srgbClr val="334155"/>
                </a:solidFill>
              </a:rPr>
              <a:t>盘口：体彩去水后比较 edge</a:t>
            </a:r>
            <a:endParaRPr lang="zh-CN" sz="1800" dirty="0"/>
          </a:p>
        </p:txBody>
      </p:sp>
      <p:sp>
        <p:nvSpPr>
          <p:cNvPr id="6" name="TextBox 6"/>
          <p:cNvSpPr txBox="1"/>
          <p:nvPr/>
        </p:nvSpPr>
        <p:spPr>
          <a:xfrm>
            <a:off x="594360" y="6080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</a:rPr>
              <a:t>生成时间 2026-06-21 17:50 · 数据文件 worldcup_0622_report.json</a:t>
            </a:r>
            <a:endParaRPr lang="zh-C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dirty="0" b="1">
                <a:solidFill>
                  <a:srgbClr val="0F172A"/>
                </a:solidFill>
              </a:rPr>
              <a:t>周日037  西班牙 vs 沙特阿拉伯</a:t>
            </a:r>
            <a:endParaRPr lang="zh-CN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64748B"/>
                </a:solidFill>
              </a:rPr>
              <a:t>2026-06-22 00:00 北京时间 · Atlanta Stadium, Atlanta</a:t>
            </a:r>
            <a:endParaRPr lang="zh-CN" sz="1300" dirty="0"/>
          </a:p>
        </p:txBody>
      </p:sp>
      <p:sp>
        <p:nvSpPr>
          <p:cNvPr id="4" name="Rect 4"/>
          <p:cNvSpPr/>
          <p:nvPr/>
        </p:nvSpPr>
        <p:spPr>
          <a:xfrm>
            <a:off x="9601200" y="292608"/>
            <a:ext cx="192024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802368" y="39319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 b="1">
                <a:solidFill>
                  <a:srgbClr val="0F172A"/>
                </a:solidFill>
              </a:rPr>
              <a:t>Elo差 +531</a:t>
            </a:r>
            <a:endParaRPr lang="zh-CN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校准后胜平负</a:t>
            </a:r>
            <a:endParaRPr lang="zh-CN" sz="17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1938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主胜</a:t>
            </a:r>
            <a:endParaRPr lang="zh-CN" sz="1300" dirty="0"/>
          </a:p>
        </p:txBody>
      </p:sp>
      <p:sp>
        <p:nvSpPr>
          <p:cNvPr id="8" name="Rect 8"/>
          <p:cNvSpPr/>
          <p:nvPr/>
        </p:nvSpPr>
        <p:spPr>
          <a:xfrm>
            <a:off x="1252728" y="196596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9" name="Rect 9"/>
          <p:cNvSpPr/>
          <p:nvPr/>
        </p:nvSpPr>
        <p:spPr>
          <a:xfrm>
            <a:off x="1252728" y="1965960"/>
            <a:ext cx="1724849" cy="118872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57600" y="19385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75.5%</a:t>
            </a:r>
            <a:endParaRPr lang="zh-CN" sz="1300" dirty="0"/>
          </a:p>
        </p:txBody>
      </p:sp>
      <p:sp>
        <p:nvSpPr>
          <p:cNvPr id="11" name="TextBox 11"/>
          <p:cNvSpPr txBox="1"/>
          <p:nvPr/>
        </p:nvSpPr>
        <p:spPr>
          <a:xfrm>
            <a:off x="685800" y="235000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平局</a:t>
            </a:r>
            <a:endParaRPr lang="zh-CN" sz="1300" dirty="0"/>
          </a:p>
        </p:txBody>
      </p:sp>
      <p:sp>
        <p:nvSpPr>
          <p:cNvPr id="12" name="Rect 12"/>
          <p:cNvSpPr/>
          <p:nvPr/>
        </p:nvSpPr>
        <p:spPr>
          <a:xfrm>
            <a:off x="1252728" y="237744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3" name="Rect 13"/>
          <p:cNvSpPr/>
          <p:nvPr/>
        </p:nvSpPr>
        <p:spPr>
          <a:xfrm>
            <a:off x="1252728" y="2377440"/>
            <a:ext cx="391401" cy="118872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57600" y="23500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17.1%</a:t>
            </a:r>
            <a:endParaRPr lang="zh-CN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685800" y="27614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客胜</a:t>
            </a:r>
            <a:endParaRPr lang="zh-CN" sz="1300" dirty="0"/>
          </a:p>
        </p:txBody>
      </p:sp>
      <p:sp>
        <p:nvSpPr>
          <p:cNvPr id="16" name="Rect 16"/>
          <p:cNvSpPr/>
          <p:nvPr/>
        </p:nvSpPr>
        <p:spPr>
          <a:xfrm>
            <a:off x="1252728" y="278892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7" name="Rect 17"/>
          <p:cNvSpPr/>
          <p:nvPr/>
        </p:nvSpPr>
        <p:spPr>
          <a:xfrm>
            <a:off x="1252728" y="2788920"/>
            <a:ext cx="169748" cy="118872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57600" y="2761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7.4%</a:t>
            </a:r>
            <a:endParaRPr lang="zh-CN" sz="1300" dirty="0"/>
          </a:p>
        </p:txBody>
      </p:sp>
      <p:sp>
        <p:nvSpPr>
          <p:cNvPr id="20" name="TextBox 20"/>
          <p:cNvSpPr txBox="1"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先验 vs 盘口</a:t>
            </a:r>
            <a:endParaRPr lang="zh-CN" sz="1700" dirty="0"/>
          </a:p>
        </p:txBody>
      </p:sp>
      <p:sp>
        <p:nvSpPr>
          <p:cNvPr id="21" name="TextBox 21"/>
          <p:cNvSpPr txBox="1"/>
          <p:nvPr/>
        </p:nvSpPr>
        <p:spPr>
          <a:xfrm>
            <a:off x="4663440" y="196596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0F172A"/>
                </a:solidFill>
              </a:rPr>
              <a:t>先验：主73.5% / 平19.1% / 客7.4%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体彩胜平负：未开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让球：-2.00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热门比分：2-0 14.8%, 1-0 12.5%, 3-0 11.3%, 2-1 8.7%</a:t>
            </a:r>
            <a:endParaRPr lang="zh-CN" sz="1400" dirty="0"/>
          </a:p>
        </p:txBody>
      </p:sp>
      <p:sp>
        <p:nvSpPr>
          <p:cNvPr id="22" name="TextBox 22"/>
          <p:cNvSpPr txBox="1"/>
          <p:nvPr/>
        </p:nvSpPr>
        <p:spPr>
          <a:xfrm>
            <a:off x="8458200" y="1508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进球期望</a:t>
            </a:r>
            <a:endParaRPr lang="zh-CN" sz="1700" dirty="0"/>
          </a:p>
        </p:txBody>
      </p:sp>
      <p:sp>
        <p:nvSpPr>
          <p:cNvPr id="23" name="TextBox 23"/>
          <p:cNvSpPr txBox="1"/>
          <p:nvPr/>
        </p:nvSpPr>
        <p:spPr>
          <a:xfrm>
            <a:off x="8458200" y="1965960"/>
            <a:ext cx="2743200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2563EB"/>
                </a:solidFill>
              </a:rPr>
              <a:t>2.28 - 0.58</a:t>
            </a:r>
            <a:endParaRPr lang="zh-CN" sz="3000" dirty="0"/>
          </a:p>
        </p:txBody>
      </p:sp>
      <p:sp>
        <p:nvSpPr>
          <p:cNvPr id="24" name="TextBox 24"/>
          <p:cNvSpPr txBox="1"/>
          <p:nvPr/>
        </p:nvSpPr>
        <p:spPr>
          <a:xfrm>
            <a:off x="685800" y="3794760"/>
            <a:ext cx="1069848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dirty="0">
                <a:solidFill>
                  <a:srgbClr val="334155"/>
                </a:solidFill>
              </a:rPr>
              <a:t>• Yamal 可首发但分钟受控：提升上半场爆点，同时压低全场大胜上限。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沙特核心仍以低位防守和反击为主，若早失球，防守折损更大。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用体彩总进球分布做总量校准：市场均值约3.82球。</a:t>
            </a:r>
            <a:endParaRPr lang="zh-CN" sz="1500" dirty="0"/>
          </a:p>
        </p:txBody>
      </p:sp>
      <p:sp>
        <p:nvSpPr>
          <p:cNvPr id="25" name="TextBox 25"/>
          <p:cNvSpPr txBox="1"/>
          <p:nvPr/>
        </p:nvSpPr>
        <p:spPr>
          <a:xfrm>
            <a:off x="685800" y="56692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 dirty="0">
                <a:solidFill>
                  <a:srgbClr val="DC2626"/>
                </a:solidFill>
              </a:rPr>
              <a:t>体彩未开标准胜平负，胜面只能用让球/比分/总进球交叉验证。</a:t>
            </a:r>
            <a:endParaRPr lang="zh-C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dirty="0" b="1">
                <a:solidFill>
                  <a:srgbClr val="0F172A"/>
                </a:solidFill>
              </a:rPr>
              <a:t>周日038  比利时 vs 伊朗</a:t>
            </a:r>
            <a:endParaRPr lang="zh-CN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64748B"/>
                </a:solidFill>
              </a:rPr>
              <a:t>2026-06-22 03:00 北京时间 · Los Angeles Stadium, Los Angeles</a:t>
            </a:r>
            <a:endParaRPr lang="zh-CN" sz="1300" dirty="0"/>
          </a:p>
        </p:txBody>
      </p:sp>
      <p:sp>
        <p:nvSpPr>
          <p:cNvPr id="4" name="Rect 4"/>
          <p:cNvSpPr/>
          <p:nvPr/>
        </p:nvSpPr>
        <p:spPr>
          <a:xfrm>
            <a:off x="9601200" y="292608"/>
            <a:ext cx="192024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802368" y="39319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 b="1">
                <a:solidFill>
                  <a:srgbClr val="0F172A"/>
                </a:solidFill>
              </a:rPr>
              <a:t>Elo差 +123</a:t>
            </a:r>
            <a:endParaRPr lang="zh-CN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校准后胜平负</a:t>
            </a:r>
            <a:endParaRPr lang="zh-CN" sz="17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1938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主胜</a:t>
            </a:r>
            <a:endParaRPr lang="zh-CN" sz="1300" dirty="0"/>
          </a:p>
        </p:txBody>
      </p:sp>
      <p:sp>
        <p:nvSpPr>
          <p:cNvPr id="8" name="Rect 8"/>
          <p:cNvSpPr/>
          <p:nvPr/>
        </p:nvSpPr>
        <p:spPr>
          <a:xfrm>
            <a:off x="1252728" y="196596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9" name="Rect 9"/>
          <p:cNvSpPr/>
          <p:nvPr/>
        </p:nvSpPr>
        <p:spPr>
          <a:xfrm>
            <a:off x="1252728" y="1965960"/>
            <a:ext cx="1038794" cy="118872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57600" y="19385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45.4%</a:t>
            </a:r>
            <a:endParaRPr lang="zh-CN" sz="1300" dirty="0"/>
          </a:p>
        </p:txBody>
      </p:sp>
      <p:sp>
        <p:nvSpPr>
          <p:cNvPr id="11" name="TextBox 11"/>
          <p:cNvSpPr txBox="1"/>
          <p:nvPr/>
        </p:nvSpPr>
        <p:spPr>
          <a:xfrm>
            <a:off x="685800" y="235000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平局</a:t>
            </a:r>
            <a:endParaRPr lang="zh-CN" sz="1300" dirty="0"/>
          </a:p>
        </p:txBody>
      </p:sp>
      <p:sp>
        <p:nvSpPr>
          <p:cNvPr id="12" name="Rect 12"/>
          <p:cNvSpPr/>
          <p:nvPr/>
        </p:nvSpPr>
        <p:spPr>
          <a:xfrm>
            <a:off x="1252728" y="237744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3" name="Rect 13"/>
          <p:cNvSpPr/>
          <p:nvPr/>
        </p:nvSpPr>
        <p:spPr>
          <a:xfrm>
            <a:off x="1252728" y="2377440"/>
            <a:ext cx="625655" cy="118872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57600" y="23500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27.4%</a:t>
            </a:r>
            <a:endParaRPr lang="zh-CN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685800" y="27614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客胜</a:t>
            </a:r>
            <a:endParaRPr lang="zh-CN" sz="1300" dirty="0"/>
          </a:p>
        </p:txBody>
      </p:sp>
      <p:sp>
        <p:nvSpPr>
          <p:cNvPr id="16" name="Rect 16"/>
          <p:cNvSpPr/>
          <p:nvPr/>
        </p:nvSpPr>
        <p:spPr>
          <a:xfrm>
            <a:off x="1252728" y="278892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7" name="Rect 17"/>
          <p:cNvSpPr/>
          <p:nvPr/>
        </p:nvSpPr>
        <p:spPr>
          <a:xfrm>
            <a:off x="1252728" y="2788920"/>
            <a:ext cx="621550" cy="118872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57600" y="2761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27.2%</a:t>
            </a:r>
            <a:endParaRPr lang="zh-CN" sz="1300" dirty="0"/>
          </a:p>
        </p:txBody>
      </p:sp>
      <p:sp>
        <p:nvSpPr>
          <p:cNvPr id="20" name="TextBox 20"/>
          <p:cNvSpPr txBox="1"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先验 vs 盘口</a:t>
            </a:r>
            <a:endParaRPr lang="zh-CN" sz="1700" dirty="0"/>
          </a:p>
        </p:txBody>
      </p:sp>
      <p:sp>
        <p:nvSpPr>
          <p:cNvPr id="21" name="TextBox 21"/>
          <p:cNvSpPr txBox="1"/>
          <p:nvPr/>
        </p:nvSpPr>
        <p:spPr>
          <a:xfrm>
            <a:off x="4663440" y="196596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0F172A"/>
                </a:solidFill>
              </a:rPr>
              <a:t>先验：主46.6% / 平27.4% / 客26.0%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体彩胜平负：主69.2%/平19.2%/客11.6%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让球：-1.00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热门比分：1-1 13.1%, 1-0 10.5%, 2-1 9.2%, 2-0 8.4%</a:t>
            </a:r>
            <a:endParaRPr lang="zh-CN" sz="1400" dirty="0"/>
          </a:p>
        </p:txBody>
      </p:sp>
      <p:sp>
        <p:nvSpPr>
          <p:cNvPr id="22" name="TextBox 22"/>
          <p:cNvSpPr txBox="1"/>
          <p:nvPr/>
        </p:nvSpPr>
        <p:spPr>
          <a:xfrm>
            <a:off x="8458200" y="1508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进球期望</a:t>
            </a:r>
            <a:endParaRPr lang="zh-CN" sz="1700" dirty="0"/>
          </a:p>
        </p:txBody>
      </p:sp>
      <p:sp>
        <p:nvSpPr>
          <p:cNvPr id="23" name="TextBox 23"/>
          <p:cNvSpPr txBox="1"/>
          <p:nvPr/>
        </p:nvSpPr>
        <p:spPr>
          <a:xfrm>
            <a:off x="8458200" y="1965960"/>
            <a:ext cx="2743200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2563EB"/>
                </a:solidFill>
              </a:rPr>
              <a:t>1.49 - 1.10</a:t>
            </a:r>
            <a:endParaRPr lang="zh-CN" sz="3000" dirty="0"/>
          </a:p>
        </p:txBody>
      </p:sp>
      <p:sp>
        <p:nvSpPr>
          <p:cNvPr id="24" name="TextBox 24"/>
          <p:cNvSpPr txBox="1"/>
          <p:nvPr/>
        </p:nvSpPr>
        <p:spPr>
          <a:xfrm>
            <a:off x="685800" y="3794760"/>
            <a:ext cx="1069848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dirty="0">
                <a:solidFill>
                  <a:srgbClr val="334155"/>
                </a:solidFill>
              </a:rPr>
              <a:t>• Doku 因病缺阵，右路推进和一对一爆点明显下调。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伊朗组织性强，市场对平/小比分保护更充分。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用体彩总进球分布做总量校准：市场均值约2.95球。</a:t>
            </a:r>
            <a:endParaRPr lang="zh-CN" sz="1500" dirty="0"/>
          </a:p>
        </p:txBody>
      </p:sp>
      <p:sp>
        <p:nvSpPr>
          <p:cNvPr id="25" name="TextBox 25"/>
          <p:cNvSpPr txBox="1"/>
          <p:nvPr/>
        </p:nvSpPr>
        <p:spPr>
          <a:xfrm>
            <a:off x="685800" y="56692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 dirty="0">
                <a:solidFill>
                  <a:srgbClr val="DC2626"/>
                </a:solidFill>
              </a:rPr>
              <a:t/>
            </a:r>
            <a:endParaRPr lang="zh-C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dirty="0" b="1">
                <a:solidFill>
                  <a:srgbClr val="0F172A"/>
                </a:solidFill>
              </a:rPr>
              <a:t>周日039  乌拉圭 vs 佛得角</a:t>
            </a:r>
            <a:endParaRPr lang="zh-CN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64748B"/>
                </a:solidFill>
              </a:rPr>
              <a:t>2026-06-22 06:00 北京时间 · Miami Stadium, Miami</a:t>
            </a:r>
            <a:endParaRPr lang="zh-CN" sz="1300" dirty="0"/>
          </a:p>
        </p:txBody>
      </p:sp>
      <p:sp>
        <p:nvSpPr>
          <p:cNvPr id="4" name="Rect 4"/>
          <p:cNvSpPr/>
          <p:nvPr/>
        </p:nvSpPr>
        <p:spPr>
          <a:xfrm>
            <a:off x="9601200" y="292608"/>
            <a:ext cx="192024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802368" y="39319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 b="1">
                <a:solidFill>
                  <a:srgbClr val="0F172A"/>
                </a:solidFill>
              </a:rPr>
              <a:t>Elo差 +264</a:t>
            </a:r>
            <a:endParaRPr lang="zh-CN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校准后胜平负</a:t>
            </a:r>
            <a:endParaRPr lang="zh-CN" sz="17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1938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主胜</a:t>
            </a:r>
            <a:endParaRPr lang="zh-CN" sz="1300" dirty="0"/>
          </a:p>
        </p:txBody>
      </p:sp>
      <p:sp>
        <p:nvSpPr>
          <p:cNvPr id="8" name="Rect 8"/>
          <p:cNvSpPr/>
          <p:nvPr/>
        </p:nvSpPr>
        <p:spPr>
          <a:xfrm>
            <a:off x="1252728" y="196596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9" name="Rect 9"/>
          <p:cNvSpPr/>
          <p:nvPr/>
        </p:nvSpPr>
        <p:spPr>
          <a:xfrm>
            <a:off x="1252728" y="1965960"/>
            <a:ext cx="1499232" cy="118872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57600" y="19385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65.6%</a:t>
            </a:r>
            <a:endParaRPr lang="zh-CN" sz="1300" dirty="0"/>
          </a:p>
        </p:txBody>
      </p:sp>
      <p:sp>
        <p:nvSpPr>
          <p:cNvPr id="11" name="TextBox 11"/>
          <p:cNvSpPr txBox="1"/>
          <p:nvPr/>
        </p:nvSpPr>
        <p:spPr>
          <a:xfrm>
            <a:off x="685800" y="235000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平局</a:t>
            </a:r>
            <a:endParaRPr lang="zh-CN" sz="1300" dirty="0"/>
          </a:p>
        </p:txBody>
      </p:sp>
      <p:sp>
        <p:nvSpPr>
          <p:cNvPr id="12" name="Rect 12"/>
          <p:cNvSpPr/>
          <p:nvPr/>
        </p:nvSpPr>
        <p:spPr>
          <a:xfrm>
            <a:off x="1252728" y="237744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3" name="Rect 13"/>
          <p:cNvSpPr/>
          <p:nvPr/>
        </p:nvSpPr>
        <p:spPr>
          <a:xfrm>
            <a:off x="1252728" y="2377440"/>
            <a:ext cx="528939" cy="118872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57600" y="23500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23.1%</a:t>
            </a:r>
            <a:endParaRPr lang="zh-CN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685800" y="27614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客胜</a:t>
            </a:r>
            <a:endParaRPr lang="zh-CN" sz="1300" dirty="0"/>
          </a:p>
        </p:txBody>
      </p:sp>
      <p:sp>
        <p:nvSpPr>
          <p:cNvPr id="16" name="Rect 16"/>
          <p:cNvSpPr/>
          <p:nvPr/>
        </p:nvSpPr>
        <p:spPr>
          <a:xfrm>
            <a:off x="1252728" y="278892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7" name="Rect 17"/>
          <p:cNvSpPr/>
          <p:nvPr/>
        </p:nvSpPr>
        <p:spPr>
          <a:xfrm>
            <a:off x="1252728" y="2788920"/>
            <a:ext cx="257827" cy="118872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57600" y="2761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11.3%</a:t>
            </a:r>
            <a:endParaRPr lang="zh-CN" sz="1300" dirty="0"/>
          </a:p>
        </p:txBody>
      </p:sp>
      <p:sp>
        <p:nvSpPr>
          <p:cNvPr id="20" name="TextBox 20"/>
          <p:cNvSpPr txBox="1"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先验 vs 盘口</a:t>
            </a:r>
            <a:endParaRPr lang="zh-CN" sz="1700" dirty="0"/>
          </a:p>
        </p:txBody>
      </p:sp>
      <p:sp>
        <p:nvSpPr>
          <p:cNvPr id="21" name="TextBox 21"/>
          <p:cNvSpPr txBox="1"/>
          <p:nvPr/>
        </p:nvSpPr>
        <p:spPr>
          <a:xfrm>
            <a:off x="4663440" y="196596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0F172A"/>
                </a:solidFill>
              </a:rPr>
              <a:t>先验：主67.6% / 平21.7% / 客10.8%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体彩胜平负：主68.1%/平21.9%/客10.1%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让球：-1.00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热门比分：1-0 15.8%, 2-0 14.7%, 1-1 10.4%, 0-0 9.7%</a:t>
            </a:r>
            <a:endParaRPr lang="zh-CN" sz="1400" dirty="0"/>
          </a:p>
        </p:txBody>
      </p:sp>
      <p:sp>
        <p:nvSpPr>
          <p:cNvPr id="22" name="TextBox 22"/>
          <p:cNvSpPr txBox="1"/>
          <p:nvPr/>
        </p:nvSpPr>
        <p:spPr>
          <a:xfrm>
            <a:off x="8458200" y="1508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进球期望</a:t>
            </a:r>
            <a:endParaRPr lang="zh-CN" sz="1700" dirty="0"/>
          </a:p>
        </p:txBody>
      </p:sp>
      <p:sp>
        <p:nvSpPr>
          <p:cNvPr id="23" name="TextBox 23"/>
          <p:cNvSpPr txBox="1"/>
          <p:nvPr/>
        </p:nvSpPr>
        <p:spPr>
          <a:xfrm>
            <a:off x="8458200" y="1965960"/>
            <a:ext cx="2743200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2563EB"/>
                </a:solidFill>
              </a:rPr>
              <a:t>1.79 - 0.60</a:t>
            </a:r>
            <a:endParaRPr lang="zh-CN" sz="3000" dirty="0"/>
          </a:p>
        </p:txBody>
      </p:sp>
      <p:sp>
        <p:nvSpPr>
          <p:cNvPr id="24" name="TextBox 24"/>
          <p:cNvSpPr txBox="1"/>
          <p:nvPr/>
        </p:nvSpPr>
        <p:spPr>
          <a:xfrm>
            <a:off x="685800" y="3794760"/>
            <a:ext cx="1069848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dirty="0">
                <a:solidFill>
                  <a:srgbClr val="334155"/>
                </a:solidFill>
              </a:rPr>
              <a:t>• Araujo 和 De Arrascaeta 缺阵，分别削弱防线稳定和中路创造。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佛得角抗压和定位球路径是冷门脚本，但持续进攻创造力有限。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用体彩总进球分布做总量校准：市场均值约2.48球。</a:t>
            </a:r>
            <a:endParaRPr lang="zh-CN" sz="1500" dirty="0"/>
          </a:p>
        </p:txBody>
      </p:sp>
      <p:sp>
        <p:nvSpPr>
          <p:cNvPr id="25" name="TextBox 25"/>
          <p:cNvSpPr txBox="1"/>
          <p:nvPr/>
        </p:nvSpPr>
        <p:spPr>
          <a:xfrm>
            <a:off x="685800" y="56692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 dirty="0">
                <a:solidFill>
                  <a:srgbClr val="DC2626"/>
                </a:solidFill>
              </a:rPr>
              <a:t>射门样本不足，npxG代理权重应下调。</a:t>
            </a:r>
            <a:endParaRPr lang="zh-C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dirty="0" b="1">
                <a:solidFill>
                  <a:srgbClr val="0F172A"/>
                </a:solidFill>
              </a:rPr>
              <a:t>周日040  新西兰 vs 埃及</a:t>
            </a:r>
            <a:endParaRPr lang="zh-CN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530352" y="841248"/>
            <a:ext cx="7772400" cy="31089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64748B"/>
                </a:solidFill>
              </a:rPr>
              <a:t>2026-06-22 09:00 北京时间 · BC Place, Vancouver</a:t>
            </a:r>
            <a:endParaRPr lang="zh-CN" sz="1300" dirty="0"/>
          </a:p>
        </p:txBody>
      </p:sp>
      <p:sp>
        <p:nvSpPr>
          <p:cNvPr id="4" name="Rect 4"/>
          <p:cNvSpPr/>
          <p:nvPr/>
        </p:nvSpPr>
        <p:spPr>
          <a:xfrm>
            <a:off x="9601200" y="292608"/>
            <a:ext cx="1920240" cy="502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802368" y="39319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 b="1">
                <a:solidFill>
                  <a:srgbClr val="0F172A"/>
                </a:solidFill>
              </a:rPr>
              <a:t>Elo差 -133</a:t>
            </a:r>
            <a:endParaRPr lang="zh-CN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1508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校准后胜平负</a:t>
            </a:r>
            <a:endParaRPr lang="zh-CN" sz="17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193852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主胜</a:t>
            </a:r>
            <a:endParaRPr lang="zh-CN" sz="1300" dirty="0"/>
          </a:p>
        </p:txBody>
      </p:sp>
      <p:sp>
        <p:nvSpPr>
          <p:cNvPr id="8" name="Rect 8"/>
          <p:cNvSpPr/>
          <p:nvPr/>
        </p:nvSpPr>
        <p:spPr>
          <a:xfrm>
            <a:off x="1252728" y="196596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9" name="Rect 9"/>
          <p:cNvSpPr/>
          <p:nvPr/>
        </p:nvSpPr>
        <p:spPr>
          <a:xfrm>
            <a:off x="1252728" y="1965960"/>
            <a:ext cx="713864" cy="118872"/>
          </a:xfrm>
          <a:prstGeom prst="roundRect">
            <a:avLst/>
          </a:prstGeom>
          <a:solidFill>
            <a:srgbClr val="2563EB"/>
          </a:solidFill>
          <a:ln w="9525">
            <a:solidFill>
              <a:srgbClr val="2563EB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57600" y="19385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31.2%</a:t>
            </a:r>
            <a:endParaRPr lang="zh-CN" sz="1300" dirty="0"/>
          </a:p>
        </p:txBody>
      </p:sp>
      <p:sp>
        <p:nvSpPr>
          <p:cNvPr id="11" name="TextBox 11"/>
          <p:cNvSpPr txBox="1"/>
          <p:nvPr/>
        </p:nvSpPr>
        <p:spPr>
          <a:xfrm>
            <a:off x="685800" y="235000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平局</a:t>
            </a:r>
            <a:endParaRPr lang="zh-CN" sz="1300" dirty="0"/>
          </a:p>
        </p:txBody>
      </p:sp>
      <p:sp>
        <p:nvSpPr>
          <p:cNvPr id="12" name="Rect 12"/>
          <p:cNvSpPr/>
          <p:nvPr/>
        </p:nvSpPr>
        <p:spPr>
          <a:xfrm>
            <a:off x="1252728" y="237744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3" name="Rect 13"/>
          <p:cNvSpPr/>
          <p:nvPr/>
        </p:nvSpPr>
        <p:spPr>
          <a:xfrm>
            <a:off x="1252728" y="2377440"/>
            <a:ext cx="637143" cy="118872"/>
          </a:xfrm>
          <a:prstGeom prst="roundRect">
            <a:avLst/>
          </a:prstGeom>
          <a:solidFill>
            <a:srgbClr val="64748B"/>
          </a:solidFill>
          <a:ln w="9525">
            <a:solidFill>
              <a:srgbClr val="64748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657600" y="235000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27.9%</a:t>
            </a:r>
            <a:endParaRPr lang="zh-CN" sz="1300" dirty="0"/>
          </a:p>
        </p:txBody>
      </p:sp>
      <p:sp>
        <p:nvSpPr>
          <p:cNvPr id="15" name="TextBox 15"/>
          <p:cNvSpPr txBox="1"/>
          <p:nvPr/>
        </p:nvSpPr>
        <p:spPr>
          <a:xfrm>
            <a:off x="685800" y="2761488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>
                <a:solidFill>
                  <a:srgbClr val="0F172A"/>
                </a:solidFill>
              </a:rPr>
              <a:t>客胜</a:t>
            </a:r>
            <a:endParaRPr lang="zh-CN" sz="1300" dirty="0"/>
          </a:p>
        </p:txBody>
      </p:sp>
      <p:sp>
        <p:nvSpPr>
          <p:cNvPr id="16" name="Rect 16"/>
          <p:cNvSpPr/>
          <p:nvPr/>
        </p:nvSpPr>
        <p:spPr>
          <a:xfrm>
            <a:off x="1252728" y="2788920"/>
            <a:ext cx="2286000" cy="118872"/>
          </a:xfrm>
          <a:prstGeom prst="round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7" name="Rect 17"/>
          <p:cNvSpPr/>
          <p:nvPr/>
        </p:nvSpPr>
        <p:spPr>
          <a:xfrm>
            <a:off x="1252728" y="2788920"/>
            <a:ext cx="934991" cy="118872"/>
          </a:xfrm>
          <a:prstGeom prst="roundRect">
            <a:avLst/>
          </a:prstGeom>
          <a:solidFill>
            <a:srgbClr val="DC2626"/>
          </a:solidFill>
          <a:ln w="9525">
            <a:solidFill>
              <a:srgbClr val="DC2626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3657600" y="276148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300" dirty="0" b="1">
                <a:solidFill>
                  <a:srgbClr val="0F172A"/>
                </a:solidFill>
              </a:rPr>
              <a:t>40.9%</a:t>
            </a:r>
            <a:endParaRPr lang="zh-CN" sz="1300" dirty="0"/>
          </a:p>
        </p:txBody>
      </p:sp>
      <p:sp>
        <p:nvSpPr>
          <p:cNvPr id="20" name="TextBox 20"/>
          <p:cNvSpPr txBox="1"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先验 vs 盘口</a:t>
            </a:r>
            <a:endParaRPr lang="zh-CN" sz="1700" dirty="0"/>
          </a:p>
        </p:txBody>
      </p:sp>
      <p:sp>
        <p:nvSpPr>
          <p:cNvPr id="21" name="TextBox 21"/>
          <p:cNvSpPr txBox="1"/>
          <p:nvPr/>
        </p:nvSpPr>
        <p:spPr>
          <a:xfrm>
            <a:off x="4663440" y="196596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400" dirty="0">
                <a:solidFill>
                  <a:srgbClr val="0F172A"/>
                </a:solidFill>
              </a:rPr>
              <a:t>先验：主31.8% / 平28.1% / 客40.2%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体彩胜平负：主14.8%/平22.9%/客62.4%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让球：+1.00</a:t>
            </a:r>
            <a:endParaRPr lang="zh-CN" sz="1400" dirty="0"/>
          </a:p>
          <a:p>
            <a:r>
              <a:rPr lang="zh-CN" sz="1400" dirty="0">
                <a:solidFill>
                  <a:srgbClr val="0F172A"/>
                </a:solidFill>
              </a:rPr>
              <a:t>热门比分：1-1 13.3%, 0-1 9.8%, 1-2 8.7%, 0-0 8.4%</a:t>
            </a:r>
            <a:endParaRPr lang="zh-CN" sz="1400" dirty="0"/>
          </a:p>
        </p:txBody>
      </p:sp>
      <p:sp>
        <p:nvSpPr>
          <p:cNvPr id="22" name="TextBox 22"/>
          <p:cNvSpPr txBox="1"/>
          <p:nvPr/>
        </p:nvSpPr>
        <p:spPr>
          <a:xfrm>
            <a:off x="8458200" y="15087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700" dirty="0" b="1">
                <a:solidFill>
                  <a:srgbClr val="0F172A"/>
                </a:solidFill>
              </a:rPr>
              <a:t>进球期望</a:t>
            </a:r>
            <a:endParaRPr lang="zh-CN" sz="1700" dirty="0"/>
          </a:p>
        </p:txBody>
      </p:sp>
      <p:sp>
        <p:nvSpPr>
          <p:cNvPr id="23" name="TextBox 23"/>
          <p:cNvSpPr txBox="1"/>
          <p:nvPr/>
        </p:nvSpPr>
        <p:spPr>
          <a:xfrm>
            <a:off x="8458200" y="1965960"/>
            <a:ext cx="2743200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2563EB"/>
                </a:solidFill>
              </a:rPr>
              <a:t>1.19 - 1.39</a:t>
            </a:r>
            <a:endParaRPr lang="zh-CN" sz="3000" dirty="0"/>
          </a:p>
        </p:txBody>
      </p:sp>
      <p:sp>
        <p:nvSpPr>
          <p:cNvPr id="24" name="TextBox 24"/>
          <p:cNvSpPr txBox="1"/>
          <p:nvPr/>
        </p:nvSpPr>
        <p:spPr>
          <a:xfrm>
            <a:off x="685800" y="3794760"/>
            <a:ext cx="10698480" cy="1325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dirty="0">
                <a:solidFill>
                  <a:srgbClr val="334155"/>
                </a:solidFill>
              </a:rPr>
              <a:t>• Garbett 退出名单削弱新西兰中场创造，但 Wood/Just 的高球和定位球路径仍需要保留。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埃及进攻核心质量更高，胜面强于新西兰，但客让一球市场已明显压价。</a:t>
            </a:r>
            <a:endParaRPr lang="zh-CN" sz="1500" dirty="0"/>
          </a:p>
          <a:p>
            <a:r>
              <a:rPr lang="zh-CN" sz="1500" dirty="0">
                <a:solidFill>
                  <a:srgbClr val="334155"/>
                </a:solidFill>
              </a:rPr>
              <a:t>• 用体彩总进球分布做总量校准：市场均值约2.64球。</a:t>
            </a:r>
            <a:endParaRPr lang="zh-CN" sz="1500" dirty="0"/>
          </a:p>
        </p:txBody>
      </p:sp>
      <p:sp>
        <p:nvSpPr>
          <p:cNvPr id="25" name="TextBox 25"/>
          <p:cNvSpPr txBox="1"/>
          <p:nvPr/>
        </p:nvSpPr>
        <p:spPr>
          <a:xfrm>
            <a:off x="685800" y="56692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200" dirty="0">
                <a:solidFill>
                  <a:srgbClr val="DC2626"/>
                </a:solidFill>
              </a:rPr>
              <a:t/>
            </a:r>
            <a:endParaRPr lang="zh-C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000" dirty="0" b="1">
                <a:solidFill>
                  <a:srgbClr val="0F172A"/>
                </a:solidFill>
              </a:rPr>
              <a:t>数据可靠性与下一步</a:t>
            </a:r>
            <a:endParaRPr lang="zh-CN" sz="3000" dirty="0"/>
          </a:p>
        </p:txBody>
      </p:sp>
      <p:sp>
        <p:nvSpPr>
          <p:cNvPr id="3" name="TextBox 3"/>
          <p:cNvSpPr txBox="1"/>
          <p:nvPr/>
        </p:nvSpPr>
        <p:spPr>
          <a:xfrm>
            <a:off x="777240" y="1325880"/>
            <a:ext cx="10515600" cy="3383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dirty="0">
                <a:solidFill>
                  <a:srgbClr val="0F172A"/>
                </a:solidFill>
              </a:rPr>
              <a:t>可靠性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体彩 API 本轮 live 可抓，matchId 2040247-2040250；临场盘口会变。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FBref 用本地缓存 HTML，npxG 是射门/射正代理，不等于真 xG。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天气来自 open-meteo；部分请求可能失败，报告会降级标注。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伤病来自 FIFA/Guardian/AP/RotoWire 等公开源，最终首发仍需临场复核。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/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建议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开赛前 30-60 分钟重跑脚本刷新体彩和首发。</a:t>
            </a:r>
            <a:endParaRPr lang="zh-CN" sz="1800" dirty="0"/>
          </a:p>
          <a:p>
            <a:r>
              <a:rPr lang="zh-CN" sz="1800" dirty="0">
                <a:solidFill>
                  <a:srgbClr val="0F172A"/>
                </a:solidFill>
              </a:rPr>
              <a:t>• 若你要下注，优先用让球/比分价值，不只看直胜。</a:t>
            </a:r>
            <a:endParaRPr lang="zh-CN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777240" y="5897880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100" dirty="0">
                <a:solidFill>
                  <a:srgbClr val="64748B"/>
                </a:solidFill>
              </a:rPr>
              <a:t>生成脚本：wc_analysis/worldcup_0622_analysis.py / render_0622_pptx.py</a:t>
            </a:r>
            <a:endParaRPr lang="zh-CN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Cup">
  <a:themeElements>
    <a:clrScheme name="Default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DC2626"/>
      </a:accent2>
      <a:accent3>
        <a:srgbClr val="64748B"/>
      </a:accent3>
      <a:accent4>
        <a:srgbClr val="16A34A"/>
      </a:accent4>
      <a:accent5>
        <a:srgbClr val="F59E0B"/>
      </a:accent5>
      <a:accent6>
        <a:srgbClr val="7C3AED"/>
      </a:accent6>
      <a:hlink>
        <a:srgbClr val="2563EB"/>
      </a:hlink>
      <a:folHlink>
        <a:srgbClr val="7C3AED"/>
      </a:folHlink>
    </a:clrScheme>
    <a:fontScheme name="Default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2026-06-22 World Cup Analysis</dc:title>
  <dc:creator>Codex</dc:creator>
  <cp:lastModifiedBy>Codex</cp:lastModifiedBy>
  <dcterms:created xsi:type="dcterms:W3CDTF">2026-06-21T09:50:08Z</dcterms:created>
</cp:coreProperties>
</file>